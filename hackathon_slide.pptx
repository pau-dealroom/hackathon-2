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1672" cy="5943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86868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115568"/>
            <a:ext cx="64008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78992" y="1051560"/>
            <a:ext cx="64008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2144" y="987552"/>
            <a:ext cx="64008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896112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A2E"/>
                </a:solidFill>
                <a:latin typeface="Inter"/>
              </a:rPr>
              <a:t>dealroom.co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89611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7620">
            <a:solidFill>
              <a:srgbClr val="366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3662E3"/>
                </a:solidFill>
                <a:latin typeface="Inter"/>
              </a:rPr>
              <a:t>Hackathon · 2026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1417320"/>
            <a:ext cx="1069848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1691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662E3"/>
                </a:solidFill>
                <a:latin typeface="Inter"/>
              </a:rPr>
              <a:t>PROJECT · ONE-PAGER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659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0F1A2E"/>
                </a:solidFill>
                <a:latin typeface="Inter"/>
              </a:rPr>
              <a:t>Custom page for VCs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97480"/>
            <a:ext cx="100584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40000"/>
              </a:lnSpc>
            </a:pPr>
            <a:r>
              <a:rPr b="1" sz="1400">
                <a:solidFill>
                  <a:srgbClr val="0F1A2E"/>
                </a:solidFill>
                <a:latin typeface="Inter"/>
              </a:rPr>
              <a:t>Goal: </a:t>
            </a:r>
            <a:r>
              <a:rPr sz="1400">
                <a:solidFill>
                  <a:srgbClr val="6B7280"/>
                </a:solidFill>
                <a:latin typeface="Inter"/>
              </a:rPr>
              <a:t>spark curiosity through personalized content with the goal of wanting to see more — only sending companies not already in their portfolio.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90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9CA3AF"/>
                </a:solidFill>
                <a:latin typeface="Inter"/>
              </a:rPr>
              <a:t>EVALUATION CRITERIA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14800"/>
            <a:ext cx="342900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4114800"/>
            <a:ext cx="45720" cy="1783080"/>
          </a:xfrm>
          <a:prstGeom prst="rect">
            <a:avLst/>
          </a:prstGeom>
          <a:solidFill>
            <a:srgbClr val="366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27939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A2E"/>
                </a:solidFill>
                <a:latin typeface="Inter"/>
              </a:rPr>
              <a:t>Usefulness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4297680"/>
            <a:ext cx="777240" cy="246888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16A34A"/>
                </a:solidFill>
                <a:latin typeface="Inter"/>
              </a:rPr>
              <a:t>✓ 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681728"/>
            <a:ext cx="29718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40000"/>
              </a:lnSpc>
            </a:pPr>
            <a:r>
              <a:rPr sz="1100">
                <a:solidFill>
                  <a:srgbClr val="6B7280"/>
                </a:solidFill>
                <a:latin typeface="Inter"/>
              </a:rPr>
              <a:t>Saves the sales team manual research time and sparks curiosity in the VC prospect — every page is a unique conversation starter.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07992" y="4114800"/>
            <a:ext cx="342900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07992" y="4114800"/>
            <a:ext cx="45720" cy="1783080"/>
          </a:xfrm>
          <a:prstGeom prst="rect">
            <a:avLst/>
          </a:prstGeom>
          <a:solidFill>
            <a:srgbClr val="366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427939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A2E"/>
                </a:solidFill>
                <a:latin typeface="Inter"/>
              </a:rPr>
              <a:t>Working demo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4297680"/>
            <a:ext cx="777240" cy="246888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16A34A"/>
                </a:solidFill>
                <a:latin typeface="Inter"/>
              </a:rPr>
              <a:t>✓ Yes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4681728"/>
            <a:ext cx="29718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40000"/>
              </a:lnSpc>
            </a:pPr>
            <a:r>
              <a:rPr sz="1100">
                <a:solidFill>
                  <a:srgbClr val="6B7280"/>
                </a:solidFill>
                <a:latin typeface="Inter"/>
              </a:rPr>
              <a:t>Live Flask app generating bespoke Company &amp; LP recommendation pages end-to-end from a single VC name or URL input.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4" y="4114800"/>
            <a:ext cx="342900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01584" y="4114800"/>
            <a:ext cx="45720" cy="1783080"/>
          </a:xfrm>
          <a:prstGeom prst="rect">
            <a:avLst/>
          </a:prstGeom>
          <a:solidFill>
            <a:srgbClr val="366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427939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A2E"/>
                </a:solidFill>
                <a:latin typeface="Inter"/>
              </a:rPr>
              <a:t>Learning leap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70464" y="4297680"/>
            <a:ext cx="777240" cy="246888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16A34A"/>
                </a:solidFill>
                <a:latin typeface="Inter"/>
              </a:rPr>
              <a:t>✓ Loads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4" y="4681728"/>
            <a:ext cx="29718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40000"/>
              </a:lnSpc>
            </a:pPr>
            <a:r>
              <a:rPr sz="1100">
                <a:solidFill>
                  <a:srgbClr val="6B7280"/>
                </a:solidFill>
                <a:latin typeface="Inter"/>
              </a:rPr>
              <a:t>Learned a lot — working with API connectors, fixing bugs across the stack, prompt design for GPT-driven thesis extraction, and navigating the next-gen Dealroom API.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6172200"/>
            <a:ext cx="1069848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14400" y="6281928"/>
            <a:ext cx="1325880" cy="256032"/>
          </a:xfrm>
          <a:prstGeom prst="roundRect">
            <a:avLst>
              <a:gd name="adj" fmla="val 3500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Inter"/>
              </a:rPr>
              <a:t>Dealroom 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13432" y="6281928"/>
            <a:ext cx="1005840" cy="256032"/>
          </a:xfrm>
          <a:prstGeom prst="roundRect">
            <a:avLst>
              <a:gd name="adj" fmla="val 3500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Inter"/>
              </a:rPr>
              <a:t>Flask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92424" y="6281928"/>
            <a:ext cx="1051560" cy="256032"/>
          </a:xfrm>
          <a:prstGeom prst="roundRect">
            <a:avLst>
              <a:gd name="adj" fmla="val 3500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Inter"/>
              </a:rPr>
              <a:t>GPT-4o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17136" y="6281928"/>
            <a:ext cx="1051560" cy="256032"/>
          </a:xfrm>
          <a:prstGeom prst="roundRect">
            <a:avLst>
              <a:gd name="adj" fmla="val 3500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Inter"/>
              </a:rPr>
              <a:t>Python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3093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Inter"/>
              </a:rPr>
              <a:t>github.com/pau-dealroom/hackathon-2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